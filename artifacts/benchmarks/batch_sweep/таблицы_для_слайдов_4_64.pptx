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500" b="1">
                <a:solidFill>
                  <a:srgbClr val="1E22A9"/>
                </a:solidFill>
                <a:latin typeface="Inter"/>
              </a:defRPr>
            </a:pPr>
            <a:r>
              <a:t>Ускорение fused относительно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0">
                <a:solidFill>
                  <a:srgbClr val="4B4B55"/>
                </a:solidFill>
                <a:latin typeface="Inter"/>
              </a:defRPr>
            </a:pPr>
            <a:r>
              <a:t>Время baseline / время fused · две нижние строки архивной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663440"/>
            <a:ext cx="109728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1E22A9"/>
                </a:solidFill>
                <a:latin typeface="Inter"/>
              </a:defRPr>
            </a:pPr>
            <a:r>
              <a:t>Fused быстрее во всех 20 сочетаниях: 1,67–1,98×.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0">
                <a:solidFill>
                  <a:srgbClr val="6E6E78"/>
                </a:solidFill>
                <a:latin typeface="Inter"/>
              </a:defRPr>
            </a:pPr>
            <a:r>
              <a:t>Источник: results2.txt / results_baseline2.txt · значения округлены для слайда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2148840"/>
          <a:ext cx="1100023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472"/>
                <a:gridCol w="950976"/>
                <a:gridCol w="950976"/>
                <a:gridCol w="950976"/>
                <a:gridCol w="950976"/>
                <a:gridCol w="950976"/>
                <a:gridCol w="950976"/>
                <a:gridCol w="950976"/>
                <a:gridCol w="950976"/>
                <a:gridCol w="950976"/>
                <a:gridCol w="950976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FastCDC, KiB</a:t>
                      </a:r>
                    </a:p>
                  </a:txBody>
                  <a:tcPr marL="22860" marR="22860" marT="36576" marB="36576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64 B</a:t>
                      </a:r>
                    </a:p>
                  </a:txBody>
                  <a:tcPr marL="22860" marR="22860" marT="36576" marB="36576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256 B</a:t>
                      </a:r>
                    </a:p>
                  </a:txBody>
                  <a:tcPr marL="22860" marR="22860" marT="36576" marB="36576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512 B</a:t>
                      </a:r>
                    </a:p>
                  </a:txBody>
                  <a:tcPr marL="22860" marR="22860" marT="36576" marB="36576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 KiB</a:t>
                      </a:r>
                    </a:p>
                  </a:txBody>
                  <a:tcPr marL="22860" marR="22860" marT="36576" marB="36576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8 KiB</a:t>
                      </a:r>
                    </a:p>
                  </a:txBody>
                  <a:tcPr marL="22860" marR="22860" marT="36576" marB="36576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16 KiB</a:t>
                      </a:r>
                    </a:p>
                  </a:txBody>
                  <a:tcPr marL="22860" marR="22860" marT="36576" marB="36576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32 KiB</a:t>
                      </a:r>
                    </a:p>
                  </a:txBody>
                  <a:tcPr marL="22860" marR="22860" marT="36576" marB="36576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64 KiB</a:t>
                      </a:r>
                    </a:p>
                  </a:txBody>
                  <a:tcPr marL="22860" marR="22860" marT="36576" marB="36576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128 KiB</a:t>
                      </a:r>
                    </a:p>
                  </a:txBody>
                  <a:tcPr marL="22860" marR="22860" marT="36576" marB="36576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256 KiB</a:t>
                      </a:r>
                    </a:p>
                  </a:txBody>
                  <a:tcPr marL="22860" marR="22860" marT="36576" marB="36576" anchor="ctr">
                    <a:solidFill>
                      <a:srgbClr val="1E22A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4/8/64</a:t>
                      </a:r>
                    </a:p>
                  </a:txBody>
                  <a:tcPr marL="22860" marR="22860" marT="36576" marB="36576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1,79×</a:t>
                      </a:r>
                    </a:p>
                  </a:txBody>
                  <a:tcPr marL="22860" marR="22860" marT="36576" marB="36576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1,79×</a:t>
                      </a:r>
                    </a:p>
                  </a:txBody>
                  <a:tcPr marL="22860" marR="22860" marT="36576" marB="36576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1,83×</a:t>
                      </a:r>
                    </a:p>
                  </a:txBody>
                  <a:tcPr marL="22860" marR="22860" marT="36576" marB="36576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1,83×</a:t>
                      </a:r>
                    </a:p>
                  </a:txBody>
                  <a:tcPr marL="22860" marR="22860" marT="36576" marB="36576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1,76×</a:t>
                      </a:r>
                    </a:p>
                  </a:txBody>
                  <a:tcPr marL="22860" marR="22860" marT="36576" marB="36576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1,85×</a:t>
                      </a:r>
                    </a:p>
                  </a:txBody>
                  <a:tcPr marL="22860" marR="22860" marT="36576" marB="36576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1,98×</a:t>
                      </a:r>
                    </a:p>
                  </a:txBody>
                  <a:tcPr marL="22860" marR="22860" marT="36576" marB="36576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1,76×</a:t>
                      </a:r>
                    </a:p>
                  </a:txBody>
                  <a:tcPr marL="22860" marR="22860" marT="36576" marB="36576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1,84×</a:t>
                      </a:r>
                    </a:p>
                  </a:txBody>
                  <a:tcPr marL="22860" marR="22860" marT="36576" marB="36576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1,82×</a:t>
                      </a:r>
                    </a:p>
                  </a:txBody>
                  <a:tcPr marL="22860" marR="22860" marT="36576" marB="36576" anchor="ctr">
                    <a:solidFill>
                      <a:srgbClr val="EEF1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4/16/64</a:t>
                      </a:r>
                    </a:p>
                  </a:txBody>
                  <a:tcPr marL="22860" marR="22860" marT="36576" marB="36576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1,76×</a:t>
                      </a:r>
                    </a:p>
                  </a:txBody>
                  <a:tcPr marL="22860" marR="22860" marT="36576" marB="36576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1,75×</a:t>
                      </a:r>
                    </a:p>
                  </a:txBody>
                  <a:tcPr marL="22860" marR="22860" marT="36576" marB="36576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1,78×</a:t>
                      </a:r>
                    </a:p>
                  </a:txBody>
                  <a:tcPr marL="22860" marR="22860" marT="36576" marB="36576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1,83×</a:t>
                      </a:r>
                    </a:p>
                  </a:txBody>
                  <a:tcPr marL="22860" marR="22860" marT="36576" marB="36576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1,78×</a:t>
                      </a:r>
                    </a:p>
                  </a:txBody>
                  <a:tcPr marL="22860" marR="22860" marT="36576" marB="36576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1,77×</a:t>
                      </a:r>
                    </a:p>
                  </a:txBody>
                  <a:tcPr marL="22860" marR="22860" marT="36576" marB="36576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1,87×</a:t>
                      </a:r>
                    </a:p>
                  </a:txBody>
                  <a:tcPr marL="22860" marR="22860" marT="36576" marB="36576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1,75×</a:t>
                      </a:r>
                    </a:p>
                  </a:txBody>
                  <a:tcPr marL="22860" marR="22860" marT="36576" marB="36576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1,67×</a:t>
                      </a:r>
                    </a:p>
                  </a:txBody>
                  <a:tcPr marL="22860" marR="22860" marT="36576" marB="36576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1,80×</a:t>
                      </a:r>
                    </a:p>
                  </a:txBody>
                  <a:tcPr marL="22860" marR="22860" marT="36576" marB="36576" anchor="ctr"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500" b="1">
                <a:solidFill>
                  <a:srgbClr val="1E22A9"/>
                </a:solidFill>
                <a:latin typeface="Inter"/>
              </a:defRPr>
            </a:pPr>
            <a:r>
              <a:t>Perf stat: FastCDC 4/8/64 KiB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0">
                <a:solidFill>
                  <a:srgbClr val="4B4B55"/>
                </a:solidFill>
                <a:latin typeface="Inter"/>
              </a:defRPr>
            </a:pPr>
            <a:r>
              <a:t>В ячейках: baseline / fused. Cycles и instructions — млрд; cache references и misses — млн.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63040"/>
          <a:ext cx="1100023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554480"/>
                <a:gridCol w="1828800"/>
                <a:gridCol w="2148840"/>
                <a:gridCol w="2240280"/>
                <a:gridCol w="2313432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Batch</a:t>
                      </a:r>
                    </a:p>
                  </a:txBody>
                  <a:tcPr marL="45720" marR="45720" marT="22860" marB="22860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Время, с</a:t>
                      </a:r>
                    </a:p>
                  </a:txBody>
                  <a:tcPr marL="45720" marR="45720" marT="22860" marB="22860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Cycles, млрд</a:t>
                      </a:r>
                    </a:p>
                  </a:txBody>
                  <a:tcPr marL="45720" marR="45720" marT="22860" marB="22860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Instructions, млрд</a:t>
                      </a:r>
                    </a:p>
                  </a:txBody>
                  <a:tcPr marL="45720" marR="45720" marT="22860" marB="22860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Cache refs, млн</a:t>
                      </a:r>
                    </a:p>
                  </a:txBody>
                  <a:tcPr marL="45720" marR="45720" marT="22860" marB="22860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Cache misses, млн</a:t>
                      </a:r>
                    </a:p>
                  </a:txBody>
                  <a:tcPr marL="45720" marR="45720" marT="22860" marB="22860" anchor="ctr">
                    <a:solidFill>
                      <a:srgbClr val="1E22A9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64 B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1,636 / 0,915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3,59 / 3,00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8,361 / 8,600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300,19 / 265,39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19,59 / 6,15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256 B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1,640 / 0,916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3,67 / 3,01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8,361 / 8,602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298,64 / 266,01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19,77 / 6,76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512 B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1,618 / 0,886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3,63 / 3,04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8,361 / 8,602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300,49 / 265,62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20,01 / 6,16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 KiB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1,644 / 0,898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3,61 / 3,01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8,361 / 8,603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302,20 / 264,63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19,94 / 6,20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 KiB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1,577 / 0,897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3,63 / 3,02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8,361 / 8,603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301,57 / 263,58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19,80 / 6,13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16 KiB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1,628 / 0,882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3,60 / 3,00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8,361 / 8,583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302,06 / 265,45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19,79 / 6,02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32 KiB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2,092 / 1,056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3,93 / 3,10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8,361 / 8,583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283,19 / 258,23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21,80 / 5,96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64 KiB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1,795 / 1,018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3,75 / 3,04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8,361 / 8,583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283,04 / 247,82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20,84 / 6,13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128 KiB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1,903 / 1,034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3,73 / 3,05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8,361 / 8,585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276,50 / 250,80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21,26 / 6,38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256 KiB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2,027 / 1,114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3,79 / 3,09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8,361 / 8,585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285,66 / 249,62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21,34 / 6,48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053328"/>
            <a:ext cx="109728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1E22A9"/>
                </a:solidFill>
                <a:latin typeface="Inter"/>
              </a:defRPr>
            </a:pPr>
            <a:r>
              <a:t>У fused меньше cycles и cache-misses при немного большем числе instructions.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0">
                <a:solidFill>
                  <a:srgbClr val="6E6E78"/>
                </a:solidFill>
                <a:latin typeface="Inter"/>
              </a:defRPr>
            </a:pPr>
            <a:r>
              <a:t>Источник: results2.txt / results_baseline2.txt · значения округлены для слайда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500" b="1">
                <a:solidFill>
                  <a:srgbClr val="1E22A9"/>
                </a:solidFill>
                <a:latin typeface="Inter"/>
              </a:defRPr>
            </a:pPr>
            <a:r>
              <a:t>Perf stat: FastCDC 4/16/64 KiB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0">
                <a:solidFill>
                  <a:srgbClr val="4B4B55"/>
                </a:solidFill>
                <a:latin typeface="Inter"/>
              </a:defRPr>
            </a:pPr>
            <a:r>
              <a:t>В ячейках: baseline / fused. Cycles и instructions — млрд; cache references и misses — млн.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63040"/>
          <a:ext cx="1100023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554480"/>
                <a:gridCol w="1828800"/>
                <a:gridCol w="2148840"/>
                <a:gridCol w="2240280"/>
                <a:gridCol w="2313432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Batch</a:t>
                      </a:r>
                    </a:p>
                  </a:txBody>
                  <a:tcPr marL="45720" marR="45720" marT="22860" marB="22860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Время, с</a:t>
                      </a:r>
                    </a:p>
                  </a:txBody>
                  <a:tcPr marL="45720" marR="45720" marT="22860" marB="22860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Cycles, млрд</a:t>
                      </a:r>
                    </a:p>
                  </a:txBody>
                  <a:tcPr marL="45720" marR="45720" marT="22860" marB="22860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Instructions, млрд</a:t>
                      </a:r>
                    </a:p>
                  </a:txBody>
                  <a:tcPr marL="45720" marR="45720" marT="22860" marB="22860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Cache refs, млн</a:t>
                      </a:r>
                    </a:p>
                  </a:txBody>
                  <a:tcPr marL="45720" marR="45720" marT="22860" marB="22860" anchor="ctr"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Cache misses, млн</a:t>
                      </a:r>
                    </a:p>
                  </a:txBody>
                  <a:tcPr marL="45720" marR="45720" marT="22860" marB="22860" anchor="ctr">
                    <a:solidFill>
                      <a:srgbClr val="1E22A9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64 B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1,492 / 0,848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3,45 / 2,83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8,636 / 8,786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241,11 / 225,09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18,66 / 4,77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256 B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1,514 / 0,864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3,43 / 2,83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8,636 / 8,788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245,10 / 229,13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19,25 / 4,97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512 B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1,499 / 0,844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3,46 / 2,83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8,636 / 8,788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242,03 / 224,81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18,55 / 4,61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 KiB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1,523 / 0,831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3,44 / 2,83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8,636 / 8,788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241,70 / 223,96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18,70 / 4,72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 KiB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1,511 / 0,847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3,42 / 2,83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8,636 / 8,788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243,35 / 225,21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18,63 / 4,76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16 KiB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1,506 / 0,850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3,44 / 2,83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8,636 / 8,789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241,98 / 225,18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18,88 / 4,75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32 KiB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1,891 / 1,012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3,65 / 2,84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8,636 / 8,778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231,32 / 218,75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20,20 / 4,79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64 KiB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1,700 / 0,971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3,55 / 2,88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8,636 / 8,779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227,54 / 219,47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19,83 / 4,71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128 KiB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1,731 / 1,035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3,62 / 2,87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8,636 / 8,779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231,99 / 218,55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19,88 / 4,82</a:t>
                      </a:r>
                    </a:p>
                  </a:txBody>
                  <a:tcPr marL="45720" marR="45720" marT="22860" marB="22860" anchor="ctr">
                    <a:solidFill>
                      <a:srgbClr val="EEF1FA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256 KiB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1,708 / 0,950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3,55 / 2,90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8,636 / 8,779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232,72 / 218,32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1E28"/>
                          </a:solidFill>
                          <a:latin typeface="Inter"/>
                        </a:defRPr>
                      </a:pPr>
                      <a:r>
                        <a:t>19,70 / 4,74</a:t>
                      </a:r>
                    </a:p>
                  </a:txBody>
                  <a:tcPr marL="45720" marR="45720" marT="22860" marB="22860" anchor="ctr"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053328"/>
            <a:ext cx="109728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1E22A9"/>
                </a:solidFill>
                <a:latin typeface="Inter"/>
              </a:defRPr>
            </a:pPr>
            <a:r>
              <a:t>У fused меньше cycles и cache-misses при немного большем числе instructions.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0">
                <a:solidFill>
                  <a:srgbClr val="6E6E78"/>
                </a:solidFill>
                <a:latin typeface="Inter"/>
              </a:defRPr>
            </a:pPr>
            <a:r>
              <a:t>Источник: results2.txt / results_baseline2.txt · значения округлены для слайда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