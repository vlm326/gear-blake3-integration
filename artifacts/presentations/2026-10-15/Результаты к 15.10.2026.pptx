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1975"/>
  <p:notesSz cx="68580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A0B3DE-1E8E-424B-A89D-B7250EE15A92}">
  <a:tblStyle styleId="{F8A0B3DE-1E8E-424B-A89D-B7250EE15A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0882d7f7e27c1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h10882d7f7e27c1a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19f1976a04a4dd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h619f1976a04a4dd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ec3b33c9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f5ec3b33c9_3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10882d7f7e27c1ad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h10882d7f7e27c1ad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3ce6aac0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f3ce6aac0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3ce18700e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3ce18700e_0_5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3" name="Google Shape;33;p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A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83050" y="532975"/>
            <a:ext cx="969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Результаты к 15.10.26</a:t>
            </a:r>
            <a:endParaRPr sz="4800"/>
          </a:p>
        </p:txBody>
      </p:sp>
      <p:sp>
        <p:nvSpPr>
          <p:cNvPr id="85" name="Google Shape;85;p13"/>
          <p:cNvSpPr/>
          <p:nvPr/>
        </p:nvSpPr>
        <p:spPr>
          <a:xfrm>
            <a:off x="687287" y="2184219"/>
            <a:ext cx="10817400" cy="18900"/>
          </a:xfrm>
          <a:prstGeom prst="rect">
            <a:avLst/>
          </a:prstGeom>
          <a:solidFill>
            <a:srgbClr val="7D80D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83045" y="2376563"/>
            <a:ext cx="557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6B8ED"/>
                </a:solidFill>
                <a:latin typeface="Inter"/>
                <a:ea typeface="Inter"/>
                <a:cs typeface="Inter"/>
                <a:sym typeface="Inter"/>
              </a:rPr>
              <a:t>Оптимизация интеграции</a:t>
            </a:r>
            <a:endParaRPr sz="1800">
              <a:solidFill>
                <a:srgbClr val="B6B8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83056" y="6327648"/>
            <a:ext cx="10826496" cy="12700"/>
          </a:xfrm>
          <a:prstGeom prst="rect">
            <a:avLst/>
          </a:prstGeom>
          <a:solidFill>
            <a:srgbClr val="5255C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83056" y="6382512"/>
            <a:ext cx="10826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8E90DE"/>
                </a:solidFill>
                <a:latin typeface="Inter"/>
                <a:ea typeface="Inter"/>
                <a:cs typeface="Inter"/>
                <a:sym typeface="Inter"/>
              </a:rPr>
              <a:t>Мороз Владислав</a:t>
            </a:r>
            <a:r>
              <a:rPr b="0" i="0" lang="en-US" sz="750" u="none" cap="none" strike="noStrike">
                <a:solidFill>
                  <a:srgbClr val="8E90DE"/>
                </a:solidFill>
                <a:latin typeface="Inter"/>
                <a:ea typeface="Inter"/>
                <a:cs typeface="Inter"/>
                <a:sym typeface="Inter"/>
              </a:rPr>
              <a:t>  •</a:t>
            </a:r>
            <a:r>
              <a:rPr lang="en-US" sz="750">
                <a:solidFill>
                  <a:srgbClr val="8E90DE"/>
                </a:solidFill>
                <a:latin typeface="Inter"/>
                <a:ea typeface="Inter"/>
                <a:cs typeface="Inter"/>
                <a:sym typeface="Inter"/>
              </a:rPr>
              <a:t> СПБГУ </a:t>
            </a:r>
            <a:r>
              <a:rPr b="0" i="0" lang="en-US" sz="750" u="none" cap="none" strike="noStrike">
                <a:solidFill>
                  <a:srgbClr val="8E90DE"/>
                </a:solidFill>
                <a:latin typeface="Inter"/>
                <a:ea typeface="Inter"/>
                <a:cs typeface="Inter"/>
                <a:sym typeface="Inter"/>
              </a:rPr>
              <a:t> •  2026    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35763" y="3159265"/>
            <a:ext cx="6858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33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779983" y="649224"/>
            <a:ext cx="1063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6B6B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83058" y="832104"/>
            <a:ext cx="1063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Коротко о прошлом созвоне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83056" y="6382512"/>
            <a:ext cx="10826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 •  2026 • 2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973338" y="2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{F8A0B3DE-1E8E-424B-A89D-B7250EE15A92}</a:tableStyleId>
              </a:tblPr>
              <a:tblGrid>
                <a:gridCol w="2354575"/>
                <a:gridCol w="2354575"/>
              </a:tblGrid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Метрика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024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Значение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024A2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Cycles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3 051 102 108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Instructions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8 182 177 464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Cache-references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288 975 310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Cache-misses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22 635 318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Time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1,4141 +- 0,0266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14"/>
          <p:cNvGraphicFramePr/>
          <p:nvPr/>
        </p:nvGraphicFramePr>
        <p:xfrm>
          <a:off x="6029163" y="2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{F8A0B3DE-1E8E-424B-A89D-B7250EE15A92}</a:tableStyleId>
              </a:tblPr>
              <a:tblGrid>
                <a:gridCol w="2354575"/>
                <a:gridCol w="2361525"/>
              </a:tblGrid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Метрика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024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Значение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024A2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Cycles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6 054 251 394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Instructions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18 497 510 740 (+226%)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Cache-references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261 685 330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Cache-misses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11 651 510  (-48,5%)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7F7FA"/>
                    </a:solidFill>
                  </a:tcPr>
                </a:tc>
              </a:tr>
              <a:tr h="42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Time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1,6608 +- 0,0141 (+17,4%)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14"/>
          <p:cNvSpPr txBox="1"/>
          <p:nvPr/>
        </p:nvSpPr>
        <p:spPr>
          <a:xfrm>
            <a:off x="973375" y="1704450"/>
            <a:ext cx="470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Базовый подход то естьсперва FastCDC, потом по готовым чанкам BLAKE3 (50 запусков)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032675" y="1704450"/>
            <a:ext cx="470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Совмещенный подход то есть BLAKE3 вычисляется одновременно с вычислением границы чанка (50 запусков)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73375" y="5155350"/>
            <a:ext cx="809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baseline: 1,4141 / 50 ≈ 28 мс за один прогон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fused: 1,6608 / 50 ≈ 33 мс за один прогон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779983" y="649224"/>
            <a:ext cx="1063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6B6B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83058" y="832104"/>
            <a:ext cx="1063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Что было изменено, основные проблемы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83056" y="6382512"/>
            <a:ext cx="10826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3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83050" y="1939375"/>
            <a:ext cx="10307400" cy="28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 первой версии Gear-сканер регулярно передавал пройденные данные хешеру небольшими порциями — по 64 байта. Это увеличивало накладные расходы. Затем логику изменил: Gear сначала ищет границу, а BLAKE3 получает данные более крупными участками; хеш завершается точно на границе чанка. Также параметры размеров чанков и порций вынесли для экспериментов, добавили профилирование и автоматическую обработку результатов. </a:t>
            </a:r>
            <a:endParaRPr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779983" y="649224"/>
            <a:ext cx="1063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6B6B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683058" y="832104"/>
            <a:ext cx="1063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Flamegraph base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83056" y="6382512"/>
            <a:ext cx="10826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5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0" name="Google Shape;120;p16" title="baseline_min4_avg32_max64_batch8Ki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13" y="1423104"/>
            <a:ext cx="11356349" cy="4752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779983" y="649224"/>
            <a:ext cx="1063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6B6B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683058" y="832104"/>
            <a:ext cx="106344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Flamegraph fused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t/>
            </a:r>
            <a:endParaRPr b="1" sz="2850">
              <a:solidFill>
                <a:srgbClr val="1E22A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83056" y="6382512"/>
            <a:ext cx="10826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6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9" name="Google Shape;129;p17" title="fused_min4_avg32_max64_batch8Ki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88" y="2255563"/>
            <a:ext cx="10826399" cy="3087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779983" y="649224"/>
            <a:ext cx="1063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ОПТИМИЗАЦИЯ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779983" y="832104"/>
            <a:ext cx="106344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1" lang="en-US" sz="26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Полное сравнение (один прогон)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83056" y="6382512"/>
            <a:ext cx="10826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7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" name="Google Shape;138;p18" title="graph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125" y="1516250"/>
            <a:ext cx="10488100" cy="382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779983" y="649224"/>
            <a:ext cx="1063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B7A"/>
                </a:solidFill>
                <a:latin typeface="Inter"/>
                <a:ea typeface="Inter"/>
                <a:cs typeface="Inter"/>
                <a:sym typeface="Inter"/>
              </a:rPr>
              <a:t>ОЦЕНКА ПРОИЗВОДИТЕЛЬНОСТИ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779983" y="832104"/>
            <a:ext cx="1063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E22A9"/>
                </a:solidFill>
                <a:latin typeface="Inter"/>
                <a:ea typeface="Inter"/>
                <a:cs typeface="Inter"/>
                <a:sym typeface="Inter"/>
              </a:rPr>
              <a:t>Краткие итоги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83056" y="6327648"/>
            <a:ext cx="10826400" cy="12600"/>
          </a:xfrm>
          <a:prstGeom prst="rect">
            <a:avLst/>
          </a:prstGeom>
          <a:solidFill>
            <a:srgbClr val="D4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683056" y="6382512"/>
            <a:ext cx="10826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A9A9A"/>
                </a:solidFill>
                <a:latin typeface="Inter"/>
                <a:ea typeface="Inter"/>
                <a:cs typeface="Inter"/>
                <a:sym typeface="Inter"/>
              </a:rPr>
              <a:t>Мороз Владислав • СПБГУ  •  2026    8</a:t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t/>
            </a:r>
            <a:endParaRPr sz="750">
              <a:solidFill>
                <a:srgbClr val="9A9A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47" name="Google Shape;147;p19"/>
          <p:cNvGraphicFramePr/>
          <p:nvPr/>
        </p:nvGraphicFramePr>
        <p:xfrm>
          <a:off x="779983" y="20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{F8A0B3DE-1E8E-424B-A89D-B7250EE15A92}</a:tableStyleId>
              </a:tblPr>
              <a:tblGrid>
                <a:gridCol w="1428750"/>
                <a:gridCol w="1809750"/>
                <a:gridCol w="1714500"/>
                <a:gridCol w="1714500"/>
                <a:gridCol w="2095500"/>
                <a:gridCol w="19221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BLAKE3 batch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FastCDC min/avg/max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Baseline, медиана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Fused, медиана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Выигрыш, медиана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highlight>
                            <a:srgbClr val="1E22A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Диапазон выигрыша</a:t>
                      </a:r>
                      <a:endParaRPr b="1" sz="1050">
                        <a:solidFill>
                          <a:srgbClr val="FFFFFF"/>
                        </a:solidFill>
                        <a:highlight>
                          <a:srgbClr val="1E22A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A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8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32/128/512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1,508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0,759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1,950× (−48,7% времени)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1,913–2,007×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32/128/512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1,506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0,785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1,919× (−47,9%)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1,882–1,939×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8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4/32/64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1,523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0,795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1,906× (−47,5%)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1,870–1,954×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128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3340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32/128/512 KiB</a:t>
                      </a:r>
                      <a:endParaRPr b="0" sz="1100">
                        <a:solidFill>
                          <a:srgbClr val="333340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1,662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0,798 с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1,984× (−49,6%)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024A2"/>
                          </a:solidFill>
                          <a:highlight>
                            <a:srgbClr val="F7F7FA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1,754–2,084×</a:t>
                      </a:r>
                      <a:endParaRPr b="1" sz="1100">
                        <a:solidFill>
                          <a:srgbClr val="2024A2"/>
                        </a:solidFill>
                        <a:highlight>
                          <a:srgbClr val="F7F7FA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76200" marL="76200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