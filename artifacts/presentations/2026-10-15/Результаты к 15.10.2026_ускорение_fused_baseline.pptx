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8"/>
  </p:sldIdLst>
  <p:sldSz cy="6858000" cx="12191975"/>
  <p:notesSz cx="6858000" cy="9144000"/>
  <p:embeddedFontLst>
    <p:embeddedFont>
      <p:font typeface="Inter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8A0B3DE-1E8E-424B-A89D-B7250EE15A92}">
  <a:tblStyle styleId="{F8A0B3DE-1E8E-424B-A89D-B7250EE15A9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font" Target="fonts/Inter-regular.fntdata"/><Relationship Id="rId15" Type="http://schemas.openxmlformats.org/officeDocument/2006/relationships/font" Target="fonts/Inter-bold.fntdata"/><Relationship Id="rId16" Type="http://schemas.openxmlformats.org/officeDocument/2006/relationships/font" Target="fonts/Inter-italic.fntdata"/><Relationship Id="rId17" Type="http://schemas.openxmlformats.org/officeDocument/2006/relationships/font" Target="fonts/Inter-boldItalic.fntdata"/><Relationship Id="rId18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10882d7f7e27c1a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h10882d7f7e27c1ad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h619f1976a04a4dd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h619f1976a04a4dde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5ec3b33c9_3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g3f5ec3b33c9_3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h10882d7f7e27c1ad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h10882d7f7e27c1ad_1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3ce6aac0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g3f3ce6aac09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3ce18700e_0_5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f3ce18700e_0_5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3" name="Google Shape;33;p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4" name="Google Shape;34;p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0" name="Google Shape;50;p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4" name="Google Shape;64;p1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2A9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683050" y="532975"/>
            <a:ext cx="9697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Результаты к 15.10.26</a:t>
            </a:r>
            <a:endParaRPr sz="4800"/>
          </a:p>
        </p:txBody>
      </p:sp>
      <p:sp>
        <p:nvSpPr>
          <p:cNvPr id="85" name="Google Shape;85;p13"/>
          <p:cNvSpPr/>
          <p:nvPr/>
        </p:nvSpPr>
        <p:spPr>
          <a:xfrm>
            <a:off x="687287" y="2184219"/>
            <a:ext cx="10817400" cy="18900"/>
          </a:xfrm>
          <a:prstGeom prst="rect">
            <a:avLst/>
          </a:prstGeom>
          <a:solidFill>
            <a:srgbClr val="7D80D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683045" y="2376563"/>
            <a:ext cx="5577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6B8ED"/>
                </a:solidFill>
                <a:latin typeface="Inter"/>
                <a:ea typeface="Inter"/>
                <a:cs typeface="Inter"/>
                <a:sym typeface="Inter"/>
              </a:rPr>
              <a:t>Оптимизация интеграции</a:t>
            </a:r>
            <a:endParaRPr sz="1800">
              <a:solidFill>
                <a:srgbClr val="B6B8E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683056" y="6327648"/>
            <a:ext cx="10826496" cy="12700"/>
          </a:xfrm>
          <a:prstGeom prst="rect">
            <a:avLst/>
          </a:prstGeom>
          <a:solidFill>
            <a:srgbClr val="5255C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683056" y="6382512"/>
            <a:ext cx="108264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8E90DE"/>
                </a:solidFill>
                <a:latin typeface="Inter"/>
                <a:ea typeface="Inter"/>
                <a:cs typeface="Inter"/>
                <a:sym typeface="Inter"/>
              </a:rPr>
              <a:t>Мороз Владислав</a:t>
            </a:r>
            <a:r>
              <a:rPr b="0" i="0" lang="en-US" sz="750" u="none" cap="none" strike="noStrike">
                <a:solidFill>
                  <a:srgbClr val="8E90DE"/>
                </a:solidFill>
                <a:latin typeface="Inter"/>
                <a:ea typeface="Inter"/>
                <a:cs typeface="Inter"/>
                <a:sym typeface="Inter"/>
              </a:rPr>
              <a:t>  •</a:t>
            </a:r>
            <a:r>
              <a:rPr lang="en-US" sz="750">
                <a:solidFill>
                  <a:srgbClr val="8E90DE"/>
                </a:solidFill>
                <a:latin typeface="Inter"/>
                <a:ea typeface="Inter"/>
                <a:cs typeface="Inter"/>
                <a:sym typeface="Inter"/>
              </a:rPr>
              <a:t> СПБГУ </a:t>
            </a:r>
            <a:r>
              <a:rPr b="0" i="0" lang="en-US" sz="750" u="none" cap="none" strike="noStrike">
                <a:solidFill>
                  <a:srgbClr val="8E90DE"/>
                </a:solidFill>
                <a:latin typeface="Inter"/>
                <a:ea typeface="Inter"/>
                <a:cs typeface="Inter"/>
                <a:sym typeface="Inter"/>
              </a:rPr>
              <a:t> •  2026    1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835763" y="3159265"/>
            <a:ext cx="68580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5">
              <a:solidFill>
                <a:srgbClr val="33334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/>
        </p:nvSpPr>
        <p:spPr>
          <a:xfrm>
            <a:off x="779983" y="649224"/>
            <a:ext cx="10634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6B6B7A"/>
                </a:solidFill>
                <a:latin typeface="Inter"/>
                <a:ea typeface="Inter"/>
                <a:cs typeface="Inter"/>
                <a:sym typeface="Inter"/>
              </a:rPr>
              <a:t>ОЦЕНКА ПРОИЗВОДИТЕЛЬНОСТИ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sz="900">
              <a:solidFill>
                <a:srgbClr val="6B6B7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683058" y="832104"/>
            <a:ext cx="10634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lang="en-US" sz="2850">
                <a:solidFill>
                  <a:srgbClr val="1E22A9"/>
                </a:solidFill>
                <a:latin typeface="Inter"/>
                <a:ea typeface="Inter"/>
                <a:cs typeface="Inter"/>
                <a:sym typeface="Inter"/>
              </a:rPr>
              <a:t>Коротко о прошлом созвоне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683056" y="6327648"/>
            <a:ext cx="10826400" cy="12600"/>
          </a:xfrm>
          <a:prstGeom prst="rect">
            <a:avLst/>
          </a:prstGeom>
          <a:solidFill>
            <a:srgbClr val="D4D4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683056" y="6382512"/>
            <a:ext cx="10826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9A9A9A"/>
                </a:solidFill>
                <a:latin typeface="Inter"/>
                <a:ea typeface="Inter"/>
                <a:cs typeface="Inter"/>
                <a:sym typeface="Inter"/>
              </a:rPr>
              <a:t>Мороз Владислав  •  2026 • 2</a:t>
            </a:r>
            <a:endParaRPr sz="750">
              <a:solidFill>
                <a:srgbClr val="9A9A9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r>
              <a:t/>
            </a:r>
            <a:endParaRPr sz="750">
              <a:solidFill>
                <a:srgbClr val="9A9A9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r>
              <a:t/>
            </a:r>
            <a:endParaRPr sz="750">
              <a:solidFill>
                <a:srgbClr val="9A9A9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98" name="Google Shape;98;p14"/>
          <p:cNvGraphicFramePr/>
          <p:nvPr/>
        </p:nvGraphicFramePr>
        <p:xfrm>
          <a:off x="973338" y="249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{F8A0B3DE-1E8E-424B-A89D-B7250EE15A92}</a:tableStyleId>
              </a:tblPr>
              <a:tblGrid>
                <a:gridCol w="2354575"/>
                <a:gridCol w="2354575"/>
              </a:tblGrid>
              <a:tr h="42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Метрика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2024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Значение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2024A2"/>
                    </a:solidFill>
                  </a:tcPr>
                </a:tc>
              </a:tr>
              <a:tr h="42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Cycles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3 051 102 108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2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Instructions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8 182 177 464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7F7FA"/>
                    </a:solidFill>
                  </a:tcPr>
                </a:tc>
              </a:tr>
              <a:tr h="42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Cache-references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288 975 310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2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Cache-misses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22 635 318 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7F7FA"/>
                    </a:solidFill>
                  </a:tcPr>
                </a:tc>
              </a:tr>
              <a:tr h="42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Time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 1,4141 +- 0,0266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9" name="Google Shape;99;p14"/>
          <p:cNvGraphicFramePr/>
          <p:nvPr/>
        </p:nvGraphicFramePr>
        <p:xfrm>
          <a:off x="6029163" y="249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{F8A0B3DE-1E8E-424B-A89D-B7250EE15A92}</a:tableStyleId>
              </a:tblPr>
              <a:tblGrid>
                <a:gridCol w="2354575"/>
                <a:gridCol w="2361525"/>
              </a:tblGrid>
              <a:tr h="42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Метрика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2024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Значение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2024A2"/>
                    </a:solidFill>
                  </a:tcPr>
                </a:tc>
              </a:tr>
              <a:tr h="42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Cycles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6 054 251 394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2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Instructions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18 497 510 740 (+226%)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7F7FA"/>
                    </a:solidFill>
                  </a:tcPr>
                </a:tc>
              </a:tr>
              <a:tr h="42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Cache-references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261 685 330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2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Cache-misses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11 651 510  (-48,5%)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7F7FA"/>
                    </a:solidFill>
                  </a:tcPr>
                </a:tc>
              </a:tr>
              <a:tr h="42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Time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1,6608 +- 0,0141 (+17,4%)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100" name="Google Shape;100;p14"/>
          <p:cNvSpPr txBox="1"/>
          <p:nvPr/>
        </p:nvSpPr>
        <p:spPr>
          <a:xfrm>
            <a:off x="973375" y="1704450"/>
            <a:ext cx="4709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Базовый подход то естьсперва FastCDC, потом по готовым чанкам BLAKE3 (50 запусков)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6032675" y="1704450"/>
            <a:ext cx="4709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Совмещенный подход то есть BLAKE3 вычисляется одновременно с вычислением границы чанка (50 запусков)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973375" y="5155350"/>
            <a:ext cx="8099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- baseline: 1,4141 / 50 ≈ 28 мс за один прогон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- fused: 1,6608 / 50 ≈ 33 мс за один прогон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779983" y="649224"/>
            <a:ext cx="10634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6B6B7A"/>
                </a:solidFill>
                <a:latin typeface="Inter"/>
                <a:ea typeface="Inter"/>
                <a:cs typeface="Inter"/>
                <a:sym typeface="Inter"/>
              </a:rPr>
              <a:t>ОЦЕНКА ПРОИЗВОДИТЕЛЬНОСТИ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sz="900">
              <a:solidFill>
                <a:srgbClr val="6B6B7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683058" y="832104"/>
            <a:ext cx="10634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lang="en-US" sz="2850">
                <a:solidFill>
                  <a:srgbClr val="1E22A9"/>
                </a:solidFill>
                <a:latin typeface="Inter"/>
                <a:ea typeface="Inter"/>
                <a:cs typeface="Inter"/>
                <a:sym typeface="Inter"/>
              </a:rPr>
              <a:t>Что было изменено, основные проблемы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683056" y="6327648"/>
            <a:ext cx="10826400" cy="12600"/>
          </a:xfrm>
          <a:prstGeom prst="rect">
            <a:avLst/>
          </a:prstGeom>
          <a:solidFill>
            <a:srgbClr val="D4D4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683056" y="6382512"/>
            <a:ext cx="10826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9A9A9A"/>
                </a:solidFill>
                <a:latin typeface="Inter"/>
                <a:ea typeface="Inter"/>
                <a:cs typeface="Inter"/>
                <a:sym typeface="Inter"/>
              </a:rPr>
              <a:t>Мороз Владислав • СПБГУ  •  2026    3</a:t>
            </a:r>
            <a:endParaRPr sz="750">
              <a:solidFill>
                <a:srgbClr val="9A9A9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r>
              <a:t/>
            </a:r>
            <a:endParaRPr sz="750">
              <a:solidFill>
                <a:srgbClr val="9A9A9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r>
              <a:t/>
            </a:r>
            <a:endParaRPr sz="750">
              <a:solidFill>
                <a:srgbClr val="9A9A9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683050" y="1939375"/>
            <a:ext cx="10307400" cy="28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 первой версии Gear-сканер регулярно передавал пройденные данные хешеру небольшими порциями — по 64 байта. Это увеличивало накладные расходы. Затем логику изменил: Gear сначала ищет границу, а BLAKE3 получает данные более крупными участками; хеш завершается точно на границе чанка. Также параметры размеров чанков и порций вынесли для экспериментов, добавили профилирование и автоматическую обработку результатов. </a:t>
            </a:r>
            <a:endParaRPr sz="2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/>
        </p:nvSpPr>
        <p:spPr>
          <a:xfrm>
            <a:off x="779983" y="649224"/>
            <a:ext cx="10634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6B6B7A"/>
                </a:solidFill>
                <a:latin typeface="Inter"/>
                <a:ea typeface="Inter"/>
                <a:cs typeface="Inter"/>
                <a:sym typeface="Inter"/>
              </a:rPr>
              <a:t>ОЦЕНКА ПРОИЗВОДИТЕЛЬНОСТИ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sz="900">
              <a:solidFill>
                <a:srgbClr val="6B6B7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683058" y="832104"/>
            <a:ext cx="10634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lang="en-US" sz="2850">
                <a:solidFill>
                  <a:srgbClr val="1E22A9"/>
                </a:solidFill>
                <a:latin typeface="Inter"/>
                <a:ea typeface="Inter"/>
                <a:cs typeface="Inter"/>
                <a:sym typeface="Inter"/>
              </a:rPr>
              <a:t>Flamegraph base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683056" y="6327648"/>
            <a:ext cx="10826400" cy="12600"/>
          </a:xfrm>
          <a:prstGeom prst="rect">
            <a:avLst/>
          </a:prstGeom>
          <a:solidFill>
            <a:srgbClr val="D4D4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683056" y="6382512"/>
            <a:ext cx="10826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9A9A9A"/>
                </a:solidFill>
                <a:latin typeface="Inter"/>
                <a:ea typeface="Inter"/>
                <a:cs typeface="Inter"/>
                <a:sym typeface="Inter"/>
              </a:rPr>
              <a:t>Мороз Владислав • СПБГУ  •  2026    5</a:t>
            </a:r>
            <a:endParaRPr sz="750">
              <a:solidFill>
                <a:srgbClr val="9A9A9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r>
              <a:t/>
            </a:r>
            <a:endParaRPr sz="750">
              <a:solidFill>
                <a:srgbClr val="9A9A9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r>
              <a:t/>
            </a:r>
            <a:endParaRPr sz="750">
              <a:solidFill>
                <a:srgbClr val="9A9A9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0" name="Google Shape;120;p16" title="baseline_min4_avg32_max64_batch8Ki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813" y="1423104"/>
            <a:ext cx="11356349" cy="4752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/>
        </p:nvSpPr>
        <p:spPr>
          <a:xfrm>
            <a:off x="779983" y="649224"/>
            <a:ext cx="10634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6B6B7A"/>
                </a:solidFill>
                <a:latin typeface="Inter"/>
                <a:ea typeface="Inter"/>
                <a:cs typeface="Inter"/>
                <a:sym typeface="Inter"/>
              </a:rPr>
              <a:t>ОЦЕНКА ПРОИЗВОДИТЕЛЬНОСТИ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sz="900">
              <a:solidFill>
                <a:srgbClr val="6B6B7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683058" y="832104"/>
            <a:ext cx="106344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50"/>
              <a:buFont typeface="Arial"/>
              <a:buNone/>
            </a:pPr>
            <a:r>
              <a:rPr b="1" lang="en-US" sz="2850">
                <a:solidFill>
                  <a:srgbClr val="1E22A9"/>
                </a:solidFill>
                <a:latin typeface="Inter"/>
                <a:ea typeface="Inter"/>
                <a:cs typeface="Inter"/>
                <a:sym typeface="Inter"/>
              </a:rPr>
              <a:t>Flamegraph fused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t/>
            </a:r>
            <a:endParaRPr b="1" sz="2850">
              <a:solidFill>
                <a:srgbClr val="1E22A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683056" y="6327648"/>
            <a:ext cx="10826400" cy="12600"/>
          </a:xfrm>
          <a:prstGeom prst="rect">
            <a:avLst/>
          </a:prstGeom>
          <a:solidFill>
            <a:srgbClr val="D4D4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683056" y="6382512"/>
            <a:ext cx="10826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9A9A9A"/>
                </a:solidFill>
                <a:latin typeface="Inter"/>
                <a:ea typeface="Inter"/>
                <a:cs typeface="Inter"/>
                <a:sym typeface="Inter"/>
              </a:rPr>
              <a:t>Мороз Владислав • СПБГУ  •  2026    6</a:t>
            </a:r>
            <a:endParaRPr sz="750">
              <a:solidFill>
                <a:srgbClr val="9A9A9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r>
              <a:t/>
            </a:r>
            <a:endParaRPr sz="750">
              <a:solidFill>
                <a:srgbClr val="9A9A9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r>
              <a:t/>
            </a:r>
            <a:endParaRPr sz="750">
              <a:solidFill>
                <a:srgbClr val="9A9A9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9" name="Google Shape;129;p17" title="fused_min4_avg32_max64_batch8Ki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788" y="2255563"/>
            <a:ext cx="10826399" cy="30872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/>
          <p:nvPr/>
        </p:nvSpPr>
        <p:spPr>
          <a:xfrm>
            <a:off x="779983" y="649224"/>
            <a:ext cx="10634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6B6B7A"/>
                </a:solidFill>
                <a:latin typeface="Inter"/>
                <a:ea typeface="Inter"/>
                <a:cs typeface="Inter"/>
                <a:sym typeface="Inter"/>
              </a:rPr>
              <a:t>ОПТИМИЗАЦИЯ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8"/>
          <p:cNvSpPr txBox="1"/>
          <p:nvPr/>
        </p:nvSpPr>
        <p:spPr>
          <a:xfrm>
            <a:off x="779983" y="832104"/>
            <a:ext cx="106344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Arial"/>
              <a:buNone/>
            </a:pPr>
            <a:r>
              <a:rPr b="1" lang="en-US" sz="2650">
                <a:solidFill>
                  <a:srgbClr val="1E22A9"/>
                </a:solidFill>
                <a:latin typeface="Inter"/>
                <a:ea typeface="Inter"/>
                <a:cs typeface="Inter"/>
                <a:sym typeface="Inter"/>
              </a:rPr>
              <a:t>Полное сравнение (один прогон)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683056" y="6327648"/>
            <a:ext cx="10826400" cy="12600"/>
          </a:xfrm>
          <a:prstGeom prst="rect">
            <a:avLst/>
          </a:prstGeom>
          <a:solidFill>
            <a:srgbClr val="D4D4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683056" y="6382512"/>
            <a:ext cx="108264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9A9A9A"/>
                </a:solidFill>
                <a:latin typeface="Inter"/>
                <a:ea typeface="Inter"/>
                <a:cs typeface="Inter"/>
                <a:sym typeface="Inter"/>
              </a:rPr>
              <a:t>Мороз Владислав • СПБГУ  •  2026    7</a:t>
            </a:r>
            <a:endParaRPr sz="750">
              <a:solidFill>
                <a:srgbClr val="9A9A9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8" name="Google Shape;138;p18" title="graph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125" y="1516250"/>
            <a:ext cx="10488100" cy="3825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 txBox="1"/>
          <p:nvPr/>
        </p:nvSpPr>
        <p:spPr>
          <a:xfrm>
            <a:off x="779983" y="649224"/>
            <a:ext cx="10634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6B7A"/>
                </a:solidFill>
                <a:latin typeface="Inter"/>
                <a:ea typeface="Inter"/>
                <a:cs typeface="Inter"/>
                <a:sym typeface="Inter"/>
              </a:rPr>
              <a:t>ОЦЕНКА ПРОИЗВОДИТЕЛЬНОСТИ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9"/>
          <p:cNvSpPr txBox="1"/>
          <p:nvPr/>
        </p:nvSpPr>
        <p:spPr>
          <a:xfrm>
            <a:off x="779983" y="832104"/>
            <a:ext cx="10634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lang="en-US" sz="2850">
                <a:solidFill>
                  <a:srgbClr val="1E22A9"/>
                </a:solidFill>
                <a:latin typeface="Inter"/>
                <a:ea typeface="Inter"/>
                <a:cs typeface="Inter"/>
                <a:sym typeface="Inter"/>
              </a:rPr>
              <a:t>Краткие итоги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683056" y="6327648"/>
            <a:ext cx="10826400" cy="12600"/>
          </a:xfrm>
          <a:prstGeom prst="rect">
            <a:avLst/>
          </a:prstGeom>
          <a:solidFill>
            <a:srgbClr val="D4D4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9"/>
          <p:cNvSpPr txBox="1"/>
          <p:nvPr/>
        </p:nvSpPr>
        <p:spPr>
          <a:xfrm>
            <a:off x="683056" y="6382512"/>
            <a:ext cx="10826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9A9A9A"/>
                </a:solidFill>
                <a:latin typeface="Inter"/>
                <a:ea typeface="Inter"/>
                <a:cs typeface="Inter"/>
                <a:sym typeface="Inter"/>
              </a:rPr>
              <a:t>Мороз Владислав • СПБГУ  •  2026    8</a:t>
            </a:r>
            <a:endParaRPr sz="750">
              <a:solidFill>
                <a:srgbClr val="9A9A9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r>
              <a:t/>
            </a:r>
            <a:endParaRPr sz="750">
              <a:solidFill>
                <a:srgbClr val="9A9A9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147" name="Google Shape;147;p19"/>
          <p:cNvGraphicFramePr/>
          <p:nvPr/>
        </p:nvGraphicFramePr>
        <p:xfrm>
          <a:off x="779983" y="209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{F8A0B3DE-1E8E-424B-A89D-B7250EE15A92}</a:tableStyleId>
              </a:tblPr>
              <a:tblGrid>
                <a:gridCol w="1428750"/>
                <a:gridCol w="1809750"/>
                <a:gridCol w="1714500"/>
                <a:gridCol w="1714500"/>
                <a:gridCol w="2095500"/>
                <a:gridCol w="1922150"/>
              </a:tblGrid>
              <a:tr h="49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FFFFFF"/>
                          </a:solidFill>
                          <a:highlight>
                            <a:srgbClr val="1E22A9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BLAKE3 batch</a:t>
                      </a:r>
                      <a:endParaRPr b="1" sz="1050">
                        <a:solidFill>
                          <a:srgbClr val="FFFFFF"/>
                        </a:solidFill>
                        <a:highlight>
                          <a:srgbClr val="1E22A9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2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FFFFFF"/>
                          </a:solidFill>
                          <a:highlight>
                            <a:srgbClr val="1E22A9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FastCDC min/avg/max</a:t>
                      </a:r>
                      <a:endParaRPr b="1" sz="1050">
                        <a:solidFill>
                          <a:srgbClr val="FFFFFF"/>
                        </a:solidFill>
                        <a:highlight>
                          <a:srgbClr val="1E22A9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2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FFFFFF"/>
                          </a:solidFill>
                          <a:highlight>
                            <a:srgbClr val="1E22A9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Baseline, медиана</a:t>
                      </a:r>
                      <a:endParaRPr b="1" sz="1050">
                        <a:solidFill>
                          <a:srgbClr val="FFFFFF"/>
                        </a:solidFill>
                        <a:highlight>
                          <a:srgbClr val="1E22A9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2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FFFFFF"/>
                          </a:solidFill>
                          <a:highlight>
                            <a:srgbClr val="1E22A9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Fused, медиана</a:t>
                      </a:r>
                      <a:endParaRPr b="1" sz="1050">
                        <a:solidFill>
                          <a:srgbClr val="FFFFFF"/>
                        </a:solidFill>
                        <a:highlight>
                          <a:srgbClr val="1E22A9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2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FFFFFF"/>
                          </a:solidFill>
                          <a:highlight>
                            <a:srgbClr val="1E22A9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Выигрыш, медиана</a:t>
                      </a:r>
                      <a:endParaRPr b="1" sz="1050">
                        <a:solidFill>
                          <a:srgbClr val="FFFFFF"/>
                        </a:solidFill>
                        <a:highlight>
                          <a:srgbClr val="1E22A9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2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FFFFFF"/>
                          </a:solidFill>
                          <a:highlight>
                            <a:srgbClr val="1E22A9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Диапазон выигрыша</a:t>
                      </a:r>
                      <a:endParaRPr b="1" sz="1050">
                        <a:solidFill>
                          <a:srgbClr val="FFFFFF"/>
                        </a:solidFill>
                        <a:highlight>
                          <a:srgbClr val="1E22A9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2A9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33340"/>
                          </a:solidFill>
                          <a:highlight>
                            <a:srgbClr val="FFFFFF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8 KiB</a:t>
                      </a:r>
                      <a:endParaRPr b="0" sz="1100">
                        <a:solidFill>
                          <a:srgbClr val="333340"/>
                        </a:solidFill>
                        <a:highlight>
                          <a:srgbClr val="FFFFFF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33340"/>
                          </a:solidFill>
                          <a:highlight>
                            <a:srgbClr val="FFFFFF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32/128/512 KiB</a:t>
                      </a:r>
                      <a:endParaRPr b="0" sz="1100">
                        <a:solidFill>
                          <a:srgbClr val="333340"/>
                        </a:solidFill>
                        <a:highlight>
                          <a:srgbClr val="FFFFFF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024A2"/>
                          </a:solidFill>
                          <a:highlight>
                            <a:srgbClr val="FFFFFF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1,508 с</a:t>
                      </a:r>
                      <a:endParaRPr b="1" sz="1100">
                        <a:solidFill>
                          <a:srgbClr val="2024A2"/>
                        </a:solidFill>
                        <a:highlight>
                          <a:srgbClr val="FFFFFF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024A2"/>
                          </a:solidFill>
                          <a:highlight>
                            <a:srgbClr val="FFFFFF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0,759 с</a:t>
                      </a:r>
                      <a:endParaRPr b="1" sz="1100">
                        <a:solidFill>
                          <a:srgbClr val="2024A2"/>
                        </a:solidFill>
                        <a:highlight>
                          <a:srgbClr val="FFFFFF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024A2"/>
                          </a:solidFill>
                          <a:highlight>
                            <a:srgbClr val="FFFFFF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1,950× (−48,7% времени)</a:t>
                      </a:r>
                      <a:endParaRPr b="1" sz="1100">
                        <a:solidFill>
                          <a:srgbClr val="2024A2"/>
                        </a:solidFill>
                        <a:highlight>
                          <a:srgbClr val="FFFFFF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024A2"/>
                          </a:solidFill>
                          <a:highlight>
                            <a:srgbClr val="FFFFFF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1,913–2,007×</a:t>
                      </a:r>
                      <a:endParaRPr b="1" sz="1100">
                        <a:solidFill>
                          <a:srgbClr val="2024A2"/>
                        </a:solidFill>
                        <a:highlight>
                          <a:srgbClr val="FFFFFF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33340"/>
                          </a:solidFill>
                          <a:highlight>
                            <a:srgbClr val="F7F7FA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1 KiB</a:t>
                      </a:r>
                      <a:endParaRPr b="0" sz="1100">
                        <a:solidFill>
                          <a:srgbClr val="333340"/>
                        </a:solidFill>
                        <a:highlight>
                          <a:srgbClr val="F7F7FA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33340"/>
                          </a:solidFill>
                          <a:highlight>
                            <a:srgbClr val="F7F7FA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32/128/512 KiB</a:t>
                      </a:r>
                      <a:endParaRPr b="0" sz="1100">
                        <a:solidFill>
                          <a:srgbClr val="333340"/>
                        </a:solidFill>
                        <a:highlight>
                          <a:srgbClr val="F7F7FA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024A2"/>
                          </a:solidFill>
                          <a:highlight>
                            <a:srgbClr val="F7F7FA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1,506 с</a:t>
                      </a:r>
                      <a:endParaRPr b="1" sz="1100">
                        <a:solidFill>
                          <a:srgbClr val="2024A2"/>
                        </a:solidFill>
                        <a:highlight>
                          <a:srgbClr val="F7F7FA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024A2"/>
                          </a:solidFill>
                          <a:highlight>
                            <a:srgbClr val="F7F7FA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0,785 с</a:t>
                      </a:r>
                      <a:endParaRPr b="1" sz="1100">
                        <a:solidFill>
                          <a:srgbClr val="2024A2"/>
                        </a:solidFill>
                        <a:highlight>
                          <a:srgbClr val="F7F7FA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024A2"/>
                          </a:solidFill>
                          <a:highlight>
                            <a:srgbClr val="F7F7FA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1,919× (−47,9%)</a:t>
                      </a:r>
                      <a:endParaRPr b="1" sz="1100">
                        <a:solidFill>
                          <a:srgbClr val="2024A2"/>
                        </a:solidFill>
                        <a:highlight>
                          <a:srgbClr val="F7F7FA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024A2"/>
                          </a:solidFill>
                          <a:highlight>
                            <a:srgbClr val="F7F7FA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1,882–1,939×</a:t>
                      </a:r>
                      <a:endParaRPr b="1" sz="1100">
                        <a:solidFill>
                          <a:srgbClr val="2024A2"/>
                        </a:solidFill>
                        <a:highlight>
                          <a:srgbClr val="F7F7FA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33340"/>
                          </a:solidFill>
                          <a:highlight>
                            <a:srgbClr val="FFFFFF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8 KiB</a:t>
                      </a:r>
                      <a:endParaRPr b="0" sz="1100">
                        <a:solidFill>
                          <a:srgbClr val="333340"/>
                        </a:solidFill>
                        <a:highlight>
                          <a:srgbClr val="FFFFFF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33340"/>
                          </a:solidFill>
                          <a:highlight>
                            <a:srgbClr val="FFFFFF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4/32/64 KiB</a:t>
                      </a:r>
                      <a:endParaRPr b="0" sz="1100">
                        <a:solidFill>
                          <a:srgbClr val="333340"/>
                        </a:solidFill>
                        <a:highlight>
                          <a:srgbClr val="FFFFFF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024A2"/>
                          </a:solidFill>
                          <a:highlight>
                            <a:srgbClr val="FFFFFF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1,523 с</a:t>
                      </a:r>
                      <a:endParaRPr b="1" sz="1100">
                        <a:solidFill>
                          <a:srgbClr val="2024A2"/>
                        </a:solidFill>
                        <a:highlight>
                          <a:srgbClr val="FFFFFF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024A2"/>
                          </a:solidFill>
                          <a:highlight>
                            <a:srgbClr val="FFFFFF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0,795 с</a:t>
                      </a:r>
                      <a:endParaRPr b="1" sz="1100">
                        <a:solidFill>
                          <a:srgbClr val="2024A2"/>
                        </a:solidFill>
                        <a:highlight>
                          <a:srgbClr val="FFFFFF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024A2"/>
                          </a:solidFill>
                          <a:highlight>
                            <a:srgbClr val="FFFFFF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1,906× (−47,5%)</a:t>
                      </a:r>
                      <a:endParaRPr b="1" sz="1100">
                        <a:solidFill>
                          <a:srgbClr val="2024A2"/>
                        </a:solidFill>
                        <a:highlight>
                          <a:srgbClr val="FFFFFF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024A2"/>
                          </a:solidFill>
                          <a:highlight>
                            <a:srgbClr val="FFFFFF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1,870–1,954×</a:t>
                      </a:r>
                      <a:endParaRPr b="1" sz="1100">
                        <a:solidFill>
                          <a:srgbClr val="2024A2"/>
                        </a:solidFill>
                        <a:highlight>
                          <a:srgbClr val="FFFFFF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33340"/>
                          </a:solidFill>
                          <a:highlight>
                            <a:srgbClr val="F7F7FA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128 KiB</a:t>
                      </a:r>
                      <a:endParaRPr b="0" sz="1100">
                        <a:solidFill>
                          <a:srgbClr val="333340"/>
                        </a:solidFill>
                        <a:highlight>
                          <a:srgbClr val="F7F7FA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33340"/>
                          </a:solidFill>
                          <a:highlight>
                            <a:srgbClr val="F7F7FA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32/128/512 KiB</a:t>
                      </a:r>
                      <a:endParaRPr b="0" sz="1100">
                        <a:solidFill>
                          <a:srgbClr val="333340"/>
                        </a:solidFill>
                        <a:highlight>
                          <a:srgbClr val="F7F7FA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024A2"/>
                          </a:solidFill>
                          <a:highlight>
                            <a:srgbClr val="F7F7FA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1,662 с</a:t>
                      </a:r>
                      <a:endParaRPr b="1" sz="1100">
                        <a:solidFill>
                          <a:srgbClr val="2024A2"/>
                        </a:solidFill>
                        <a:highlight>
                          <a:srgbClr val="F7F7FA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024A2"/>
                          </a:solidFill>
                          <a:highlight>
                            <a:srgbClr val="F7F7FA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0,798 с</a:t>
                      </a:r>
                      <a:endParaRPr b="1" sz="1100">
                        <a:solidFill>
                          <a:srgbClr val="2024A2"/>
                        </a:solidFill>
                        <a:highlight>
                          <a:srgbClr val="F7F7FA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024A2"/>
                          </a:solidFill>
                          <a:highlight>
                            <a:srgbClr val="F7F7FA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1,984× (−49,6%)</a:t>
                      </a:r>
                      <a:endParaRPr b="1" sz="1100">
                        <a:solidFill>
                          <a:srgbClr val="2024A2"/>
                        </a:solidFill>
                        <a:highlight>
                          <a:srgbClr val="F7F7FA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024A2"/>
                          </a:solidFill>
                          <a:highlight>
                            <a:srgbClr val="F7F7FA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1,754–2,084×</a:t>
                      </a:r>
                      <a:endParaRPr b="1" sz="1100">
                        <a:solidFill>
                          <a:srgbClr val="2024A2"/>
                        </a:solidFill>
                        <a:highlight>
                          <a:srgbClr val="F7F7FA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438912"/>
            <a:ext cx="1060704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900">
                <a:solidFill>
                  <a:srgbClr val="6B6B7A"/>
                </a:solidFill>
                <a:latin typeface="Inter"/>
              </a:defRPr>
            </a:pPr>
            <a:r>
              <a:t>ОЦЕНКА ПРОИЗВОДИТЕЛЬНОСТИ</a:t>
            </a:r>
          </a:p>
        </p:txBody>
      </p:sp>
      <p:pic>
        <p:nvPicPr>
          <p:cNvPr id="6" name="Picture 5" descr="speedup_4_64_r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841248"/>
            <a:ext cx="10817352" cy="20507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" y="3657600"/>
            <a:ext cx="1069848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2400" b="1">
                <a:solidFill>
                  <a:srgbClr val="1E22A9"/>
                </a:solidFill>
                <a:latin typeface="Inter"/>
              </a:defRPr>
            </a:pPr>
            <a:r>
              <a:t>Fused быстрее во всех 6 конфигурациях: 1,73×–1,98×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4270248"/>
            <a:ext cx="105613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500">
                <a:solidFill>
                  <a:srgbClr val="23232D"/>
                </a:solidFill>
                <a:latin typeface="Inter"/>
              </a:defRPr>
            </a:pPr>
            <a:r>
              <a:t>FastCDC: средний чанк 8 / 16 / 32 KiB, min/max 4/64 KiB; BLAKE3 batch 1 / 8 KiB.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27648"/>
            <a:ext cx="10826496" cy="10972"/>
          </a:xfrm>
          <a:prstGeom prst="rect">
            <a:avLst/>
          </a:prstGeom>
          <a:solidFill>
            <a:srgbClr val="D7D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391656"/>
            <a:ext cx="1082649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>
                <a:solidFill>
                  <a:srgbClr val="9A9A9A"/>
                </a:solidFill>
                <a:latin typeface="Inter"/>
              </a:defRPr>
            </a:pPr>
            <a:r>
              <a:t>Тестовое изображение • 50 итераций • perf stat -r 5 • ускорение рассчитано по elapsed 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